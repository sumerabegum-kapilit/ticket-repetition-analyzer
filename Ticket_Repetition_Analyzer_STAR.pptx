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91440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90472" y="822960"/>
            <a:ext cx="914400" cy="8229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8024" y="822960"/>
            <a:ext cx="914400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65576" y="822960"/>
            <a:ext cx="914400" cy="82296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9CC5F5"/>
                </a:solidFill>
                <a:latin typeface="Calibri"/>
              </a:rPr>
              <a:t>TICKET REPETITION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Finding the Same Problem, Reported Differently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3C2B7"/>
                </a:solidFill>
                <a:latin typeface="Calibri"/>
              </a:rPr>
              <a:t>How AI-based duplicate detection cut through 11,700+ support tickets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8D86"/>
                </a:solidFill>
                <a:latin typeface="Calibri"/>
              </a:rPr>
              <a:t>Project Review  ·  STAR Summary  ·  Prepared for CTO &amp; Engineering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4"/>
                </a:solidFill>
                <a:latin typeface="Calibri"/>
              </a:rPr>
              <a:t>Same Issue, Different Words — and No Way to See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92608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126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800">
                <a:solidFill>
                  <a:srgbClr val="171614"/>
                </a:solidFill>
                <a:latin typeface="Calibri"/>
              </a:rPr>
              <a:t>▪  Support teams handle 11,000+ tickets across products and branches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800">
                <a:solidFill>
                  <a:srgbClr val="171614"/>
                </a:solidFill>
                <a:latin typeface="Calibri"/>
              </a:rPr>
              <a:t>▪  The same underlying problem is reported repeatedly in different wording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800">
                <a:solidFill>
                  <a:srgbClr val="171614"/>
                </a:solidFill>
                <a:latin typeface="Calibri"/>
              </a:rPr>
              <a:t>▪  Keyword search and manual tagging both miss these matches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800">
                <a:solidFill>
                  <a:srgbClr val="171614"/>
                </a:solidFill>
                <a:latin typeface="Calibri"/>
              </a:rPr>
              <a:t>▪  Result: no visibility into what's actually recurring, or how much effort is duplicated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82880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993392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71614"/>
                </a:solidFill>
                <a:latin typeface="Calibri"/>
              </a:rPr>
              <a:t>"VPN not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71614"/>
                </a:solidFill>
                <a:latin typeface="Calibri"/>
              </a:rPr>
              <a:t>connecting"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103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898781"/>
                </a:solidFill>
                <a:latin typeface="Calibri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82880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993392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71614"/>
                </a:solidFill>
                <a:latin typeface="Calibri"/>
              </a:rPr>
              <a:t>"Unable to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71614"/>
                </a:solidFill>
                <a:latin typeface="Calibri"/>
              </a:rPr>
              <a:t>access VPN"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017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98781"/>
                </a:solidFill>
                <a:latin typeface="Calibri"/>
              </a:rPr>
              <a:t>Same problem — invisible to keyword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3036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71614"/>
                </a:solidFill>
                <a:latin typeface="Calibri"/>
              </a:rPr>
              <a:t>The cost: repeat effort is invisible — teams keep re-solving problems</a:t>
            </a:r>
          </a:p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71614"/>
                </a:solidFill>
                <a:latin typeface="Calibri"/>
              </a:rPr>
              <a:t>that were already fixed, with no data to prove it or prioritize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Ticket Repetition Analyzer  |  Engineering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6834"/>
                </a:solidFill>
                <a:latin typeface="Calibri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4"/>
                </a:solidFill>
                <a:latin typeface="Calibri"/>
              </a:rPr>
              <a:t>What We Set Out to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9260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900">
                <a:solidFill>
                  <a:srgbClr val="171614"/>
                </a:solidFill>
                <a:latin typeface="Calibri"/>
              </a:rPr>
              <a:t>▪  Automatically detect tickets describing the same issue, regardless of wording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900">
                <a:solidFill>
                  <a:srgbClr val="171614"/>
                </a:solidFill>
                <a:latin typeface="Calibri"/>
              </a:rPr>
              <a:t>▪  Quantify how many tickets are duplicates, and how much of it is still unresolved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900">
                <a:solidFill>
                  <a:srgbClr val="171614"/>
                </a:solidFill>
                <a:latin typeface="Calibri"/>
              </a:rPr>
              <a:t>▪  Deliver it as a self-serve dashboard — readable by anyone, no engineering help needed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900">
                <a:solidFill>
                  <a:srgbClr val="171614"/>
                </a:solidFill>
                <a:latin typeface="Calibri"/>
              </a:rPr>
              <a:t>▪  Keep all ticket data on-premise — no sensitive data sent to an external service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900">
                <a:solidFill>
                  <a:srgbClr val="171614"/>
                </a:solidFill>
                <a:latin typeface="Calibri"/>
              </a:rPr>
              <a:t>▪  Make it work from day one on a real export — no long integration project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Ticket Repetition Analyzer  |  Engineering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AF7A"/>
                </a:solidFill>
                <a:latin typeface="Calibri"/>
              </a:rP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4"/>
                </a:solidFill>
                <a:latin typeface="Calibri"/>
              </a:rPr>
              <a:t>How It Works, Technically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92608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303" y="2240280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3455" y="24231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MongoDB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031" y="3108960"/>
            <a:ext cx="135331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743" y="3200400"/>
            <a:ext cx="13898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Raw ticket export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(subject, description,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category...)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73071" y="3095244"/>
            <a:ext cx="310896" cy="256032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83967" y="2240280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7119" y="24231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Extract &amp;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3695" y="3108960"/>
            <a:ext cx="135331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5407" y="3200400"/>
            <a:ext cx="13898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Normalize fields,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strip noise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56735" y="3095244"/>
            <a:ext cx="310896" cy="256032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7631" y="2240280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0783" y="24231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AI Embedding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7359" y="3108960"/>
            <a:ext cx="135331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9071" y="3200400"/>
            <a:ext cx="13898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Local model turns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text into vectors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(no cloud call)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3095244"/>
            <a:ext cx="310896" cy="256032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240280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447" y="24231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Similarity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Clustering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1023" y="3108960"/>
            <a:ext cx="135331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3200400"/>
            <a:ext cx="13898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Groups tickets that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mean the same thing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24063" y="3095244"/>
            <a:ext cx="310896" cy="256032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4959" y="2240280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8111" y="24231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Recurring Issue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Groups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4687" y="3108960"/>
            <a:ext cx="135331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6399" y="3200400"/>
            <a:ext cx="13898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One record per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real-world problem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07727" y="3095244"/>
            <a:ext cx="310896" cy="256032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18623" y="2240280"/>
            <a:ext cx="1572768" cy="19659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1775" y="24231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Interactive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28351" y="3108960"/>
            <a:ext cx="1353312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0063" y="3200400"/>
            <a:ext cx="13898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Auto-opens on the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most relevant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98781"/>
                </a:solidFill>
                <a:latin typeface="Calibri"/>
              </a:rPr>
              <a:t>Similarity threshold is tunable — lower it to catch more duplicates, raise it to avoid false matches.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5257800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41324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71614"/>
                </a:solidFill>
                <a:latin typeface="Calibri"/>
              </a:rPr>
              <a:t>Why it works: two tickets don't need matching keywords — only a similar meaning —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71614"/>
                </a:solidFill>
                <a:latin typeface="Calibri"/>
              </a:rPr>
              <a:t>so "VPN not connecting" and "unable to access VPN" land in the same group automatically.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Ticket Repetition Analyzer  |  Engineering Project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AF7A"/>
                </a:solidFill>
                <a:latin typeface="Calibri"/>
              </a:rP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4"/>
                </a:solidFill>
                <a:latin typeface="Calibri"/>
              </a:rPr>
              <a:t>What We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92608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60350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40"/>
              </a:spcAft>
            </a:pPr>
            <a:r>
              <a:rPr sz="1750">
                <a:solidFill>
                  <a:srgbClr val="171614"/>
                </a:solidFill>
                <a:latin typeface="Calibri"/>
              </a:rPr>
              <a:t>▪  Upload-and-go: drag in a MongoDB export, no server setup</a:t>
            </a:r>
          </a:p>
          <a:p>
            <a:pPr>
              <a:lnSpc>
                <a:spcPct val="108000"/>
              </a:lnSpc>
              <a:spcAft>
                <a:spcPts val="1440"/>
              </a:spcAft>
            </a:pPr>
            <a:r>
              <a:rPr sz="1750">
                <a:solidFill>
                  <a:srgbClr val="171614"/>
                </a:solidFill>
                <a:latin typeface="Calibri"/>
              </a:rPr>
              <a:t>▪  5 interactive dashboard views, switchable in one click</a:t>
            </a:r>
          </a:p>
          <a:p>
            <a:pPr>
              <a:lnSpc>
                <a:spcPct val="108000"/>
              </a:lnSpc>
              <a:spcAft>
                <a:spcPts val="1440"/>
              </a:spcAft>
            </a:pPr>
            <a:r>
              <a:rPr sz="1750">
                <a:solidFill>
                  <a:srgbClr val="171614"/>
                </a:solidFill>
                <a:latin typeface="Calibri"/>
              </a:rPr>
              <a:t>▪  Auto-recommended view — opens on whatever fits this data best, in plain English</a:t>
            </a:r>
          </a:p>
          <a:p>
            <a:pPr>
              <a:lnSpc>
                <a:spcPct val="108000"/>
              </a:lnSpc>
              <a:spcAft>
                <a:spcPts val="1440"/>
              </a:spcAft>
            </a:pPr>
            <a:r>
              <a:rPr sz="1750">
                <a:solidFill>
                  <a:srgbClr val="171614"/>
                </a:solidFill>
                <a:latin typeface="Calibri"/>
              </a:rPr>
              <a:t>▪  Runs fully on-premise: nothing leaves the machine</a:t>
            </a:r>
          </a:p>
          <a:p>
            <a:pPr>
              <a:lnSpc>
                <a:spcPct val="108000"/>
              </a:lnSpc>
              <a:spcAft>
                <a:spcPts val="1440"/>
              </a:spcAft>
            </a:pPr>
            <a:r>
              <a:rPr sz="1750">
                <a:solidFill>
                  <a:srgbClr val="171614"/>
                </a:solidFill>
                <a:latin typeface="Calibri"/>
              </a:rPr>
              <a:t>▪  ~11,700 tickets processed in about 1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508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98781"/>
                </a:solidFill>
                <a:latin typeface="Calibri"/>
              </a:rPr>
              <a:t>The dashboard, 5 views: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965960"/>
            <a:ext cx="44805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1965960"/>
            <a:ext cx="109728" cy="5943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965960"/>
            <a:ext cx="4023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14"/>
                </a:solidFill>
                <a:latin typeface="Calibri"/>
              </a:rP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743200"/>
            <a:ext cx="44805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743200"/>
            <a:ext cx="109728" cy="5943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743200"/>
            <a:ext cx="4023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14"/>
                </a:solidFill>
                <a:latin typeface="Calibri"/>
              </a:rPr>
              <a:t>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743200"/>
            <a:ext cx="1097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B6834"/>
                </a:solidFill>
                <a:latin typeface="Calibri"/>
              </a:rPr>
              <a:t>★ Recommended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520439"/>
            <a:ext cx="44805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520439"/>
            <a:ext cx="109728" cy="5943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3520439"/>
            <a:ext cx="4023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14"/>
                </a:solidFill>
                <a:latin typeface="Calibri"/>
              </a:rPr>
              <a:t>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297679"/>
            <a:ext cx="44805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297679"/>
            <a:ext cx="109728" cy="59436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4297679"/>
            <a:ext cx="4023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14"/>
                </a:solidFill>
                <a:latin typeface="Calibri"/>
              </a:rPr>
              <a:t>Priority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5074920"/>
            <a:ext cx="448056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5074920"/>
            <a:ext cx="109728" cy="594360"/>
          </a:xfrm>
          <a:prstGeom prst="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5074920"/>
            <a:ext cx="4023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14"/>
                </a:solidFill>
                <a:latin typeface="Calibri"/>
              </a:rPr>
              <a:t>All Clusters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Ticket Repetition Analyzer  |  Engineering Project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CA30C"/>
                </a:solidFill>
                <a:latin typeface="Calibri"/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4"/>
                </a:solidFill>
                <a:latin typeface="Calibri"/>
              </a:rPr>
              <a:t>The Impact, in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926080" cy="4114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6607" y="1828800"/>
            <a:ext cx="199339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6607" y="1828800"/>
            <a:ext cx="1993392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335" y="214884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71614"/>
                </a:solidFill>
                <a:latin typeface="Calibri"/>
              </a:rPr>
              <a:t>11,692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335" y="297180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Tickets analyzed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2879" y="1828800"/>
            <a:ext cx="199339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2879" y="1828800"/>
            <a:ext cx="1993392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2607" y="214884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71614"/>
                </a:solidFill>
                <a:latin typeface="Calibri"/>
              </a:rPr>
              <a:t>947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297180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Recurring issues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828800"/>
            <a:ext cx="199339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9151" y="1828800"/>
            <a:ext cx="1993392" cy="82296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8879" y="214884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71614"/>
                </a:solidFill>
                <a:latin typeface="Calibri"/>
              </a:rPr>
              <a:t>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8879" y="297180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Repeat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5423" y="1828800"/>
            <a:ext cx="199339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75423" y="1828800"/>
            <a:ext cx="1993392" cy="8229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5151" y="214884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71614"/>
                </a:solidFill>
                <a:latin typeface="Calibri"/>
              </a:rPr>
              <a:t>2,985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5151" y="297180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Redundant tickets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51695" y="1828800"/>
            <a:ext cx="199339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51695" y="1828800"/>
            <a:ext cx="1993392" cy="82296"/>
          </a:xfrm>
          <a:prstGeom prst="rect">
            <a:avLst/>
          </a:prstGeom>
          <a:solidFill>
            <a:srgbClr val="C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1423" y="214884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71614"/>
                </a:solidFill>
                <a:latin typeface="Calibri"/>
              </a:rPr>
              <a:t>191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1423" y="297180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Still open right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160520"/>
            <a:ext cx="10515600" cy="1737360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389120"/>
            <a:ext cx="9966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600">
                <a:solidFill>
                  <a:srgbClr val="171614"/>
                </a:solidFill>
                <a:latin typeface="Calibri"/>
              </a:rPr>
              <a:t>▪  1 in 3 tickets handled today is a repeat of a problem already reported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600">
                <a:solidFill>
                  <a:srgbClr val="171614"/>
                </a:solidFill>
                <a:latin typeface="Calibri"/>
              </a:rPr>
              <a:t>▪  191 open tickets could potentially close the moment their original issue is fixed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600">
                <a:solidFill>
                  <a:srgbClr val="171614"/>
                </a:solidFill>
                <a:latin typeface="Calibri"/>
              </a:rPr>
              <a:t>▪  Team leads can now prioritize by actual repeat volume — not guesswork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Ticket Repetition Analyzer  |  Engineering Project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